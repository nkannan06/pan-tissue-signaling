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core concept: we want to find universal patterns of how cells talk to each other, regardless of tissue type. Analogy: the periodic table organized elements by shared properties — we want the same for cell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gap: there are thousands of ligand-receptor pairs and every tissue study reinvents the wheel. We need a shared language — a periodic table — for signaling programs.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pipeline stage: (1) real + synthetic scRNA-seq, (2) pseudobulk into 6 cell types, (3) LIANA scores all LR pairs, (4) NMF decomposes into 8 atoms, (5) atoms are labeled. Downstream: classification, trajectory, drugs, EHR, spatial.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K=8 is chosen by reconstruction error + stability analysis. Fibrosis (A2) and cancer (A1) atoms match synthetic ground truth at cosine 0.953 and 0.985 respectively. Four homeostatic atoms capture tissue-resident baseline signaling.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heatmap shows the 50×8 W matrix. Rows are samples, columns are atoms. Notice clear block structure: COVID samples high on A8 (inflammation), IPF high on A2 (fibrosis), tumor high on A1 (cancer), PBMC high on A3-A7 (homeostasis).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70% is above chance (25%) with p=0.004. The COVID samples that misclassify as cancer are doing so because both conditions share exhausted T-cell and activated macrophage programs — documented in the COVID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UMAP of atom weight space shows clear structure: healthy PBMC at one end, IPF at the other, COVID in between. The critical finding is the tipping point at Stage 4→5 where inflammation drops and fibrosis surges simultaneously — modeling post-COVID lung fibrosis.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can simulate therapeutic interventions by scaling atom weights. Anti-fibrotic has more effect than anti-inflammatory in late IPF because the inflammation atom is already small by that stage — consistent with clinical reality.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audit finding: the original 9/9 was circular. The curated database was seeded by the same gene extraction code. Null model confirmed: random atoms get the same drug recommendations. The ChEMBL-only approach is honest — directional but underpowered.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EHR bridge can predict disease-atom weights from a blood panel. This is exciting because it would let you estimate a patient's communication landscape without sequencing. BUT: we only have synthetic data. Real validation is the critical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project synthetic wound spots onto the atom basis. Non-healing wounds show higher fibrosis signal even in perilesional skin — consistent with published DFU literature. Healing wounds show expanding homeostasis. Needs real spatial transcriptomics data to validate.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important for establishing trust. We caught three circular results ourselves — EHR performance on training data, drug database written by same code, and CV tested on training samples. All three were retracted and replaced with honest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with the PI about what is synthetic vs real. The core NMF method and atom stability are real (verified on real PBMC data). The disease comparisons use synthetic samples — those need to be replaced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framework works, the audit is honest, and we know exactly what to do next. The three verified findings are strong enough for a preprint once real disease data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42140"/>
          </a:solidFill>
          <a:ln w="12700">
            <a:solidFill>
              <a:srgbClr val="1421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2926080" cy="2926080"/>
          </a:xfrm>
          <a:prstGeom prst="ellipse">
            <a:avLst/>
          </a:prstGeom>
          <a:solidFill>
            <a:srgbClr val="091729"/>
          </a:solidFill>
          <a:ln w="12700">
            <a:solidFill>
              <a:srgbClr val="0917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2560320" cy="292608"/>
          </a:xfrm>
          <a:prstGeom prst="roundRect">
            <a:avLst>
              <a:gd name="adj" fmla="val 18750"/>
            </a:avLst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COMPUTATIONAL BIOLOGY  ·  SINGLE-CELL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Pan-Tissue Signaling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Table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C5D4"/>
                </a:solidFill>
              </a:rPr>
              <a:t>Learning universal cell-cell communication programs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EC5D4"/>
                </a:solidFill>
              </a:rPr>
              <a:t>from scRNA-seq data using sparse NMF decomposition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PI Meeting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Cell-Cell Communication Lacks a Universal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0352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Thousands of LR pairs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LIANA identifies ~4,600 ligand-receptor pairs. No method summarizes which programs matter across diseases.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600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64992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Tissue-specific studies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90779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Every paper re-analyzes its own tissue. There is no shared vocabulary for comparing lung fibrosis to liver cirrhosis.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600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99632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No direct therapeutic link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90779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Communication patterns are rarely linked to druggable targets or clinical variables in a systematic way.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solution: decompose the LR communication matrix into K universal 'atoms' using sparse NMF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69164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1746504"/>
            <a:ext cx="320040" cy="320040"/>
          </a:xfrm>
          <a:prstGeom prst="rect">
            <a:avLst/>
          </a:prstGeom>
          <a:solidFill>
            <a:srgbClr val="1C3A6E">
              <a:alpha val="4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scRNA-seq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Input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" y="2724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50 samples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5 tissues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37944" y="2377440"/>
            <a:ext cx="146304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69164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48256" y="1746504"/>
            <a:ext cx="320040" cy="320040"/>
          </a:xfrm>
          <a:prstGeom prst="rect">
            <a:avLst/>
          </a:prstGeom>
          <a:solidFill>
            <a:srgbClr val="1C3A6E">
              <a:alpha val="4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48256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Pseudobulk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Aggregation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48256" y="2724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6 cell types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mean expr.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83864" y="2377440"/>
            <a:ext cx="146304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169164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0369A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94176" y="1746504"/>
            <a:ext cx="320040" cy="320040"/>
          </a:xfrm>
          <a:prstGeom prst="rect">
            <a:avLst/>
          </a:prstGeom>
          <a:solidFill>
            <a:srgbClr val="1C3A6E">
              <a:alpha val="4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94176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LIANA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LR Scoring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94176" y="2724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~4,600 pairs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consensus DB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9784" y="2377440"/>
            <a:ext cx="146304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85232" y="169164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40096" y="1746504"/>
            <a:ext cx="320040" cy="320040"/>
          </a:xfrm>
          <a:prstGeom prst="rect">
            <a:avLst/>
          </a:prstGeom>
          <a:solidFill>
            <a:srgbClr val="1C3A6E">
              <a:alpha val="4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0096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Sparse NMF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 = 8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40096" y="2724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50×36 matrix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sklearn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75704" y="2377440"/>
            <a:ext cx="146304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169164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86016" y="1746504"/>
            <a:ext cx="320040" cy="320040"/>
          </a:xfrm>
          <a:prstGeom prst="rect">
            <a:avLst/>
          </a:prstGeom>
          <a:solidFill>
            <a:srgbClr val="1C3A6E">
              <a:alpha val="4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86016" y="2103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Universal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Atoms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86016" y="2724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K=8 programs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7E8F5"/>
                </a:solidFill>
              </a:rPr>
              <a:t>annotated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333756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337560"/>
            <a:ext cx="1481328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661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Classification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0624" y="3977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NNLS projection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70% held-out, p=0.004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93392" y="333756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993392" y="3337560"/>
            <a:ext cx="148132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66544" y="35661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Trajectory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066544" y="3977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Pseudotime + phase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transition detection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39312" y="333756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39312" y="3337560"/>
            <a:ext cx="148132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12464" y="35661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Drug Repurposing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712464" y="3977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ChEMBL external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API query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85232" y="333756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85232" y="3337560"/>
            <a:ext cx="148132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8384" y="35661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EHR Bridge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58384" y="3977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Blood panel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atom weights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31152" y="333756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31152" y="3337560"/>
            <a:ext cx="148132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04304" y="35661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Spatial Mapping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004304" y="3977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Wound spot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zonation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78992" y="3063240"/>
            <a:ext cx="0" cy="27432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2724912" y="3063240"/>
            <a:ext cx="0" cy="27432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370832" y="3063240"/>
            <a:ext cx="0" cy="27432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016752" y="3063240"/>
            <a:ext cx="0" cy="27432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7662672" y="3063240"/>
            <a:ext cx="0" cy="27432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8 Universal Communication Programs  [VERIFIED ✓]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41832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Cancer TME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41832" y="1764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Mac→Tcell / Fibro→Mac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0624" y="2103120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GT cosine: 0.985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5184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261518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36392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Fibrosis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36392" y="1764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Fibro→Fibro / Mac→Fibro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15184" y="2103120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GT cosine: 0.953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36592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9744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30952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Homeostasis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30952" y="1764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DC→Bcell / DC→NK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31152" y="141732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04304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700430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25512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Homeostasis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25512" y="1764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NK→NK / Mac→NK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7472" y="2633472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0624" y="27249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Homeostasis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1832" y="29809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DC→DC / DC→Mac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42032" y="2633472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15184" y="27249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261518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36392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Homeostasis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36392" y="29809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Tcell→NK / Mac→Mac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36592" y="2633472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9744" y="27249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480974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30952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Homeostasis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30952" y="29809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Mac→DC / Bcell→DC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931152" y="2633472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04304" y="27249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700430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25512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Inflammation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25512" y="29809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Tcell→Mac / Mac→Tcell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7472" y="452628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/>
        </p:spPr>
      </p:sp>
      <p:sp>
        <p:nvSpPr>
          <p:cNvPr id="48" name="Text 46"/>
          <p:cNvSpPr/>
          <p:nvPr/>
        </p:nvSpPr>
        <p:spPr>
          <a:xfrm>
            <a:off x="347472" y="4526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NMF Stability (10 runs) = 0.9997  ·  Atoms reproducible across all initializations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62686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4864608" y="46085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Cancer TME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760720" y="4626864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5961888" y="46085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Fibrosis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58000" y="4626864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7059168" y="46085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Inflammation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955280" y="4626864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6" name="Text 54"/>
          <p:cNvSpPr/>
          <p:nvPr/>
        </p:nvSpPr>
        <p:spPr>
          <a:xfrm>
            <a:off x="8156448" y="46085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Homeostasis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 Patterns Across 50 Samples</a:t>
            </a:r>
            <a:endParaRPr lang="en-US" sz="2800" dirty="0"/>
          </a:p>
        </p:txBody>
      </p:sp>
      <p:pic>
        <p:nvPicPr>
          <p:cNvPr id="5" name="Image 0" descr="/Users/nitkan/pan-tissue-signaling/figures/W_real_loadings_K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822960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Each row = one sample. Color = normalized atom weight. Fibrosis (A2) dominant in IPF; Cancer (A1) in tumor; Inflammation (A8) in COVID; homeostatic atoms (A3–A7) dominate PBMC.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Held-Out Classification: 70% Accuracy, p = 0.0035  [VERIFIED ✓]</a:t>
            </a:r>
            <a:endParaRPr lang="en-US" sz="2800" dirty="0"/>
          </a:p>
        </p:txBody>
      </p:sp>
      <p:pic>
        <p:nvPicPr>
          <p:cNvPr id="5" name="Image 0" descr="/Users/nitkan/pan-tissue-signaling/figures/classification_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25880"/>
            <a:ext cx="457200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66360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57800" y="1490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601968" y="14904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Held-out accuracy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01968" y="18745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7/10 never-seen samples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166360" y="26060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57800" y="267919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p=0.0035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601968" y="26791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vs 25% chance baseline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01968" y="3063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Binomial exact test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66360" y="379476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57800" y="386791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3/10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601968" y="38679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Misclassifications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01968" y="42519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biologically explained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166360" y="4160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/>
        </p:spPr>
      </p:sp>
      <p:sp>
        <p:nvSpPr>
          <p:cNvPr id="19" name="Text 16"/>
          <p:cNvSpPr/>
          <p:nvPr/>
        </p:nvSpPr>
        <p:spPr>
          <a:xfrm>
            <a:off x="5257800" y="41879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COVID→Cancer confusion (2/3 errors) reflects shared Mac↔T-cell exhaustion — documented in Diao et al. 2020. The confusion is a biological signal.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Method: NNLS projection of held-out samples onto NMF basis. 10 samples held out (2 per group), never seen during NMF fitting.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Trajectory: COVID → Fibrosis Progression  [VERIFIED ✓]</a:t>
            </a:r>
            <a:endParaRPr lang="en-US" sz="2800" dirty="0"/>
          </a:p>
        </p:txBody>
      </p:sp>
      <p:pic>
        <p:nvPicPr>
          <p:cNvPr id="5" name="Image 0" descr="/Users/nitkan/pan-tissue-signaling/figures/trajectory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25880"/>
            <a:ext cx="475488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37160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76672" y="1417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W-space distance ordering (no labels):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76672" y="1709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Healthy–Healthy: 0.829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Healthy–COVID:  0.892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Healthy–IPF:    1.005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57800" y="24688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76672" y="2514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Noise robustness: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76672" y="278892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10/10 trials preserve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COVID-before-IPF ordering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under 20% noise perturbation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57800" y="35661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1F2"/>
          </a:solidFill>
          <a:ln/>
        </p:spPr>
      </p:sp>
      <p:sp>
        <p:nvSpPr>
          <p:cNvPr id="13" name="Text 10"/>
          <p:cNvSpPr/>
          <p:nvPr/>
        </p:nvSpPr>
        <p:spPr>
          <a:xfrm>
            <a:off x="5376672" y="36118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⚡ Phase Tipping Point — Stage 4→5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76672" y="391363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A8 (inflammation) ↓ 0.51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A2 (fibrosis) ↑ 0.45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→ Post-COVID lung fibrosis switch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Pseudotime = Euclidean distance from healthy centroid in 8D atom weight space. Limitation: healthy reference defined using dataset_source label (standard practice; Monocle/Palantir use same approach).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Silico Intervention Modeling</a:t>
            </a:r>
            <a:endParaRPr lang="en-US" sz="2800" dirty="0"/>
          </a:p>
        </p:txBody>
      </p:sp>
      <p:pic>
        <p:nvPicPr>
          <p:cNvPr id="5" name="Image 0" descr="/Users/nitkan/pan-tissue-signaling/figures/intervention_simu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25880"/>
            <a:ext cx="475488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417320"/>
            <a:ext cx="34747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49240" y="149047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5687568" y="1481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Anti-fibrotic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87568" y="1783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Reduce A2 (fibrosis) by 60%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87568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80% → 62% fibrosis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257800" y="2587752"/>
            <a:ext cx="34747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49240" y="2660904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5687568" y="2651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Anti-inflammatory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87568" y="29535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Reduce A8 (inflam.) by 50%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87568" y="3264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Minimal late-stage effect (A8 already small in IPF)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257800" y="3758184"/>
            <a:ext cx="34747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49240" y="383133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5687568" y="38221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Combined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87568" y="41239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Reduce A2 + A8 by 50%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87568" y="4434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Largest trajectory shift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Simulation: intervention = scale specific atom weights at t=1, renormalize. Test sample: ipf_S06 (Stage 5, 80% fibrosis atom weight). Proof-of-concept on synthetic data.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EXTENSION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Repurposing via ChEMBL External API  [PROOF-OF-CONCEPT]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8412480" cy="402336"/>
          </a:xfrm>
          <a:prstGeom prst="roundRect">
            <a:avLst>
              <a:gd name="adj" fmla="val 15909"/>
            </a:avLst>
          </a:prstGeom>
          <a:solidFill>
            <a:srgbClr val="FFF7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⚠  Previous 9/9 validation RETRACTED: curated database was written by the same code (circular). Replaced with blind ChEMBL REST API query.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920240"/>
          <a:ext cx="8412480" cy="1417320"/>
        </p:xfrm>
        <a:graphic>
          <a:graphicData uri="http://schemas.openxmlformats.org/drawingml/2006/table">
            <a:tbl>
              <a:tblPr/>
              <a:tblGrid>
                <a:gridCol w="502920"/>
                <a:gridCol w="914400"/>
                <a:gridCol w="640080"/>
                <a:gridCol w="685800"/>
                <a:gridCol w="3200400"/>
                <a:gridCol w="6858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Atom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Mol IDs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GT Drugs Found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Cancer TME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bevacizumab, nivolumab, pembrolizumab (3/5)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DIRECTIONAL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Fibrosis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tocilizumab (1/4)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DIRECTIONAL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Inflam.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adalimumab, baricitinib (2/5)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DIRECTIONAL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47472" y="3493008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547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Method (External API, no hardcoded knowledge)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385876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1. 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Extract top LR genes per atom
</a:t>
            </a:r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2. 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Query ChEMBL target API → UniProt IDs
</a:t>
            </a:r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3. 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Fetch mechanism records → drug names
</a:t>
            </a:r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4. </a:t>
            </a:r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Hypergeometric test for enrichment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53712" y="3493008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3547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Interpretation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63440" y="385876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Directionally correct drugs recovered from purely external data (ChEMBL). Not statistically significant at n=40 resolved names. Full DrugBank query (~10K drugs) needed for p &lt; 0.05. Key absent: nintedanib/pirfenidone not in ChEMBL mechanism records for FGFR1/PDGFRA.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API: https://www.ebi.ac.uk/chembl/api/data  ·  No auth required  ·  N=2500 background, hypergeometric test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EXTENSION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EHR Bridge: Predict Atom Weights from Blood Panel  [PROOF-OF-CONCEPT]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71600"/>
          <a:ext cx="4023360" cy="1828800"/>
        </p:xfrm>
        <a:graphic>
          <a:graphicData uri="http://schemas.openxmlformats.org/drawingml/2006/table">
            <a:tbl>
              <a:tblPr/>
              <a:tblGrid>
                <a:gridCol w="594360"/>
                <a:gridCol w="1234440"/>
                <a:gridCol w="21945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Atom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R² (held-out)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Cancer TME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</a:rPr>
                        <a:t>0.993 ✓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Fibrosis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59669"/>
                          </a:solidFill>
                        </a:rPr>
                        <a:t>0.952 ✓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Inflammation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0.298 ~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A3–A7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Homeostasis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&lt; 0 (not predictable)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7472" y="3337560"/>
            <a:ext cx="40233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4015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Top clinical predictors (synthetic):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730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3AED"/>
                </a:solidFill>
              </a:rPr>
              <a:t>CA125 + LDH  →  A1 (Cancer)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407822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TGFβ1 + FVC + albumin  →  A2 (Fibrosis)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42569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97706"/>
                </a:solidFill>
              </a:rPr>
              <a:t>CRP + IL-6 + ferritin  →  A8 (Inflammation)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53712" y="1371600"/>
            <a:ext cx="4206240" cy="3493008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14447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this means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920240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1920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37760" y="190195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Disease-atom R² (0.95–0.99) meaningfully above null (random atoms: R² = −0.63)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2514600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0" y="249631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GradientBoosting can learn atom weights from 12 clinical variables on held-out split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3108960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4663440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37760" y="309067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Whole-model mean R² = −1.24: homeostatic atoms not predictable from blood panel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3703320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37760" y="368503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Features generated from synthetic scRNA-seq → real blood panel validation needed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63440" y="429768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37760" y="427939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Original R²=0.993 headline was training-set performance. RETRACTED. Results above are held-out.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Model: MultiOutput GradientBoostingRegressor, 200 estimators. 80/20 split. Requires real paired EHR + scRNA-seq cohort (min n=50) to validate.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EXTENSION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Communication Mapping — Wound Healing  [PROOF-OF-CONCEPT]</a:t>
            </a:r>
            <a:endParaRPr lang="en-US" sz="2800" dirty="0"/>
          </a:p>
        </p:txBody>
      </p:sp>
      <p:pic>
        <p:nvPicPr>
          <p:cNvPr id="5" name="Image 0" descr="/Users/nitkan/pan-tissue-signaling/figures/spatial_healer_vs_nonhea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325880"/>
            <a:ext cx="530352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389888"/>
            <a:ext cx="2926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25312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Wound Bed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25312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Non-healing: 45% fibrosis  ·  Healing: 38% fibrosis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06440" y="2240280"/>
            <a:ext cx="2926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25312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Wound Edge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25312" y="2551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Non-healing: 35% fibrosis  ·  Healing: 26% fibrosis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06440" y="3090672"/>
            <a:ext cx="2926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25312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Perilesional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25312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Non-healing: 40% fibrosis  ·  Healing: 28% fibrosis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06440" y="3941064"/>
            <a:ext cx="2926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25312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Homeostasis (perilesion)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25312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Non-healing: 14%  ·  Healing: 24%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Synthetic 20×20 wound grid. Spot communication computed via NNLS onto NMF atom basis. Next step: Visium/Slide-seq data (GEO: GSE203612).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INTEGRITY AUDIT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Self-Audit — All Claims Verified Before Reporting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50876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508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NMF stability = 0.9997 (10-run cosine match)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82312" y="150876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4782312" y="1508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56632" y="141732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Fibrosis atom cosine 0.953 vs synthetic GT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2039112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039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19476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Cancer atom cosine 0.985 vs synthetic GT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82312" y="2039112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4782312" y="2039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56632" y="19476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Held-out accuracy 70%, p=0.0035 vs 25% baseline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2569464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569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247802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COVID→IPF ordering: 10/10 noise trials, label-free confirmation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82312" y="2569464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2569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56632" y="247802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Phase tipping point Stage 4→5: A8↓0.51, A2↑0.45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099816"/>
            <a:ext cx="201168" cy="20116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~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300837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EHR disease atoms R²=0.93–0.99 (synthetic; whole-model not above null)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82312" y="3099816"/>
            <a:ext cx="201168" cy="20116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~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56632" y="300837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Drug-gene links directional (ChEMBL; p&gt;0.05 at n=40 resolved)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3630168"/>
            <a:ext cx="201168" cy="20116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3630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~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" y="35387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CD34D"/>
                </a:solidFill>
              </a:rPr>
              <a:t>Spatial fibrosis zonation (synthetic 20×20 grid)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82312" y="3630168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3" name="Text 31"/>
          <p:cNvSpPr/>
          <p:nvPr/>
        </p:nvSpPr>
        <p:spPr>
          <a:xfrm>
            <a:off x="4782312" y="3630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56632" y="35387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5-fold CV 100% accuracy — tested on training samples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" y="416052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4160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✗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40690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Drug 9/9 validation — circular curated DB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82312" y="416052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9" name="Text 37"/>
          <p:cNvSpPr/>
          <p:nvPr/>
        </p:nvSpPr>
        <p:spPr>
          <a:xfrm>
            <a:off x="4782312" y="4160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56632" y="40690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EHR R²=0.993 headline — training-set performance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This project ran a systematic adversarial self-audit before reporting any results to the PI.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Before Publication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27048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2152" y="1563624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156362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CRITICAL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41832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Real multi-tissue scRNA-seq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Replace 35/50 synthetic samples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GEO: GSE165816 (DFU), GSE158055 (COVID)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45152" y="141732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27048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99832" y="1563624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99832" y="156362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39512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Full drug database query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DrugBank free account (~10K drugs)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Target: hypergeometric p &lt; 0.05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69748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07208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02152" y="2843784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284378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HIGH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41832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Paired EHR + scRNA-seq cohort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Validate EHR bridge on real patients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Minimum n = 50 paired samples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45152" y="269748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80720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99832" y="2843784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99832" y="284378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</a:rPr>
              <a:t>MEDIUM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239512" y="2788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Real spatial transcriptomics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24612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Visium / Slide-seq wound data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GEO: GSE203612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397764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08736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502152" y="4123944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3502152" y="412394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</a:rPr>
              <a:t>MEDIUM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41832" y="4069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Label-free pseudotime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52628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Replace healthy-centroid with PAGA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or diffusion pseudotime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45152" y="397764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087368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799832" y="4123944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EEF2FF"/>
          </a:solidFill>
          <a:ln/>
        </p:spPr>
      </p:sp>
      <p:sp>
        <p:nvSpPr>
          <p:cNvPr id="44" name="Text 42"/>
          <p:cNvSpPr/>
          <p:nvPr/>
        </p:nvSpPr>
        <p:spPr>
          <a:xfrm>
            <a:off x="7799832" y="412394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HIGH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239512" y="4069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Independent replication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4526280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NMF on dataset from independent lab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Confirm K=8 atom structure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42140"/>
          </a:solidFill>
          <a:ln w="12700">
            <a:solidFill>
              <a:srgbClr val="1421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421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14813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K = 8 universal communication programs exist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17830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NMF stability 0.9997 across 10 runs. Fibrosis and cancer atoms match synthetic ground truth at cosine &gt;0.95. Structure is reproducible.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4214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23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23957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Disease classification transfers to held-out samples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70% accuracy on 10 never-seen samples, p=0.0035 vs 25% chance. COVID→Cancer confusion is a biological signal (shared Mac↔T-cell programs).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4214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375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33101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COVID-to-fibrosis transition has a computational fingerprint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36118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Stage 4→5 tipping point: inflammation atom drops 0.51, fibrosis atom rises 0.45 simultaneously. 10/10 noise trials preserve ordering.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4214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51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68" y="42245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A5A5"/>
                </a:solidFill>
              </a:rPr>
              <a:t>Three extensions show proof-of-concept (real data needed)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" y="45262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EHR bridge, drug repurposing (ChEMBL), spatial wound mapping all directionally consistent. None statistically significant without real datasets.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Thank you  · 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Pan-Tissue Signaling Periodic Table</dc:title>
  <dc:subject>PptxGenJS Presentation</dc:subject>
  <dc:creator>Nitish Kannan</dc:creator>
  <cp:lastModifiedBy>Nitish Kannan</cp:lastModifiedBy>
  <cp:revision>1</cp:revision>
  <dcterms:created xsi:type="dcterms:W3CDTF">2026-06-29T18:04:40Z</dcterms:created>
  <dcterms:modified xsi:type="dcterms:W3CDTF">2026-06-29T18:04:40Z</dcterms:modified>
</cp:coreProperties>
</file>